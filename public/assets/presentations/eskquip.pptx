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5555-F5A6-3F6D-2455-F7C8C4A70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77543-A68D-32EC-03F1-1B25EFC24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C81B1-176D-95A6-48A5-3DB5EF8B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A735C-111F-074D-A322-6EA0943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B34DF-C870-ED96-D9F7-BB431234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8870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5790-89F2-2FE7-E89E-5A7FB239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D5F1-EA45-F4B9-F6D5-418CBDA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25071-75B4-139A-9046-32083492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37AD6-2955-8A63-3C86-4DE0913E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AC47-8109-CB74-01AB-44A8320E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66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6A55-F8E4-3717-7210-ED6B14E5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6913E-5F82-1E90-5C95-61E6EBC0B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87E15-D4C6-9C82-D234-558CBCD3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16F43-88DF-4D34-B4B1-69C8816D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3C4D3-26C4-E7B9-CABC-00F7EABD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097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41E4-2064-93FB-CEBD-E8A7B018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0DA8-F1CF-3517-DAAA-8F180E761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6B7C3-C580-62CF-377C-8DB63018D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E19D5-94A2-D1E0-41EB-4EEFE8B35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7668B-7667-B355-376B-40F13FE6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1BAD4-00C6-897A-AD27-D1414DCA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31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6EBD-6BD3-3780-BD6D-EC870AB0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A7D2E-84EE-F2CC-B4B4-AFAA6717D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12F66-4F96-69C2-8E84-748009DA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A6EA8F-C50D-9A1D-5174-E67FF574C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43377-9837-28FD-2E4A-C8579D24D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F444B-5EAF-AAC6-BE5F-3DC7F857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629BD-8289-BACF-C87D-E78DB094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3247D-87E2-0935-93DF-1C74CA33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439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DA18-539F-847A-C599-FA3DFA8E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A2A4A-5713-DFF3-9D8F-375ABCB8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3FC1E-32D1-D822-975C-45CAC5E4D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C4FD-58F1-3689-AB20-CE73DCBE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590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F19BD-29A4-B924-492D-21CCBB89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7AA4D-657D-7244-ED90-57A061DC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203B6-12AF-5B3A-4127-7AD481C8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086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B17A7-53C3-CF9A-4C8E-2CB7ECF7B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8D406-4723-568D-CFD1-937556411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DB37E-918F-1E57-7639-732729A64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9B371-00DD-FE85-0C56-BCA7EFD7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3BC67-F898-CC78-648E-BBB9CB09C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F3B57-4152-7350-76C7-82410039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9765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F4D1-4F42-A5B1-BC4B-708FBF6C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693ED0-EE89-6CC3-D9AA-2C574541A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A3F98-6400-5627-7ADD-FE6B09F73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9D3B1-9E57-E706-5AE4-2AF589AF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88CA6-AF30-4BEE-C400-60E21116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76816-F892-0A5D-6C00-34264BD3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248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012D-F2F1-DBC0-ECE8-5B288FE8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3E207-F2AE-74D3-EAC8-DCF5E1499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0F943-D783-2EC3-B04E-0D3554D7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985EC-3E43-4EC1-05D8-09A4E753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D53C1-F8C8-FE08-F674-1D450063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718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7CA8C-3BA1-DFA3-E59E-3B9EABAFA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488AC-91BD-29E9-B550-3D72837BE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82A28-BAD0-2160-79F5-28BF8B48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CBD7C-FE59-1174-FA34-27C928C1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E6CD0-68C4-8700-ED11-465FB87A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060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AA2E6A-767C-FFB9-353A-D3738635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40D58-6A81-18A3-17B8-72221FC4F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8F90E-1DC3-BB13-43B9-19D9403B9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ADC8A-802B-2075-EA84-CC2A719B1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0BF6C-A84C-BF4C-7F54-D39B1A117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211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D8975B-AB6E-5321-B5DC-6A900C28E795}"/>
              </a:ext>
            </a:extLst>
          </p:cNvPr>
          <p:cNvSpPr/>
          <p:nvPr/>
        </p:nvSpPr>
        <p:spPr>
          <a:xfrm>
            <a:off x="0" y="0"/>
            <a:ext cx="516193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4928D-88ED-EE60-5CF0-D36E6CA3C5D0}"/>
              </a:ext>
            </a:extLst>
          </p:cNvPr>
          <p:cNvSpPr txBox="1"/>
          <p:nvPr/>
        </p:nvSpPr>
        <p:spPr>
          <a:xfrm>
            <a:off x="5834872" y="1555331"/>
            <a:ext cx="625636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/>
              <a:t>EskQuip</a:t>
            </a:r>
            <a:r>
              <a:rPr lang="en-US" sz="2800" dirty="0"/>
              <a:t> is an educational web application designed to provide products and services that help equip learners, teachers and schools, such as but not limited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teacher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articles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researches</a:t>
            </a:r>
            <a:endParaRPr lang="en-US" sz="2800" dirty="0"/>
          </a:p>
          <a:p>
            <a:pPr lvl="1"/>
            <a:r>
              <a:rPr lang="en-US" sz="2800" dirty="0"/>
              <a:t>…uploaded by the registrants themselves.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FA5245-9DBF-124D-6BB8-30748CB2B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7" y="311387"/>
            <a:ext cx="3510879" cy="1221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0BF2EB-78AC-8EB3-FA35-CFE61D709FF4}"/>
              </a:ext>
            </a:extLst>
          </p:cNvPr>
          <p:cNvSpPr txBox="1"/>
          <p:nvPr/>
        </p:nvSpPr>
        <p:spPr>
          <a:xfrm>
            <a:off x="167380" y="4135633"/>
            <a:ext cx="4420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https://eskquip.com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contact@eskquip.com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782D0-74F6-F5F0-5D0A-47BCD664BF15}"/>
              </a:ext>
            </a:extLst>
          </p:cNvPr>
          <p:cNvSpPr txBox="1"/>
          <p:nvPr/>
        </p:nvSpPr>
        <p:spPr>
          <a:xfrm>
            <a:off x="604216" y="2123145"/>
            <a:ext cx="3931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Equipping Learners, Teacher and Schools Through Diverse Media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BFC5EF-7462-3F6B-33FA-8E5347C65215}"/>
              </a:ext>
            </a:extLst>
          </p:cNvPr>
          <p:cNvSpPr txBox="1"/>
          <p:nvPr/>
        </p:nvSpPr>
        <p:spPr>
          <a:xfrm>
            <a:off x="302466" y="1615313"/>
            <a:ext cx="675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“</a:t>
            </a:r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79808A-01DD-30F4-15B5-99F36D600668}"/>
              </a:ext>
            </a:extLst>
          </p:cNvPr>
          <p:cNvSpPr txBox="1"/>
          <p:nvPr/>
        </p:nvSpPr>
        <p:spPr>
          <a:xfrm>
            <a:off x="4151329" y="2884636"/>
            <a:ext cx="827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”</a:t>
            </a:r>
            <a:endParaRPr lang="en-US" sz="960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1DC36-852F-2A1B-1AA5-1E4F6C890BAF}"/>
              </a:ext>
            </a:extLst>
          </p:cNvPr>
          <p:cNvCxnSpPr/>
          <p:nvPr/>
        </p:nvCxnSpPr>
        <p:spPr>
          <a:xfrm>
            <a:off x="427703" y="3864077"/>
            <a:ext cx="427703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15515B7-0963-31A8-CF56-39CEEF609020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20A02-851D-922A-7791-13C2F440B1E4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>
                <a:solidFill>
                  <a:srgbClr val="002060"/>
                </a:solidFill>
              </a:rPr>
              <a:t>WHAT IS ESKQUIP?</a:t>
            </a:r>
          </a:p>
        </p:txBody>
      </p:sp>
    </p:spTree>
    <p:extLst>
      <p:ext uri="{BB962C8B-B14F-4D97-AF65-F5344CB8AC3E}">
        <p14:creationId xmlns:p14="http://schemas.microsoft.com/office/powerpoint/2010/main" val="81199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E5DB-576B-E238-2221-CD3D24E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B15D3A-173B-BFBF-1FA3-0511732A099E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02557-E94D-CB90-E7DA-D128E5576395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rgbClr val="002060"/>
                </a:solidFill>
              </a:rPr>
              <a:t>Teacher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654A1F-118A-0E7D-BA44-275D0AFDCAF0}"/>
              </a:ext>
            </a:extLst>
          </p:cNvPr>
          <p:cNvSpPr txBox="1"/>
          <p:nvPr/>
        </p:nvSpPr>
        <p:spPr>
          <a:xfrm>
            <a:off x="5530183" y="1608303"/>
            <a:ext cx="6256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uploaded by registrants who successfully applied for a teacher 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88611-9B42-A9A0-B093-E51F236532AB}"/>
              </a:ext>
            </a:extLst>
          </p:cNvPr>
          <p:cNvSpPr txBox="1"/>
          <p:nvPr/>
        </p:nvSpPr>
        <p:spPr>
          <a:xfrm>
            <a:off x="5491912" y="3281520"/>
            <a:ext cx="62563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can be accessed by anyone for free, if granted access, or if purchased for the amount set by the teacher who sold through a seller subscription</a:t>
            </a:r>
            <a:endParaRPr lang="en-US" sz="3200" b="1" dirty="0"/>
          </a:p>
        </p:txBody>
      </p:sp>
      <p:pic>
        <p:nvPicPr>
          <p:cNvPr id="17" name="Graphic 16" descr="Document outline">
            <a:extLst>
              <a:ext uri="{FF2B5EF4-FFF2-40B4-BE49-F238E27FC236}">
                <a16:creationId xmlns:a16="http://schemas.microsoft.com/office/drawing/2014/main" id="{C5D9DB60-2E72-81A3-0B0B-8528A83BC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757" y="659995"/>
            <a:ext cx="4783394" cy="478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3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22E1C-20EC-C266-4CE9-ED92D736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08CFC-AB35-4FE4-DC0D-DB0365F3AAF1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D7CCF-1B69-FBB5-8C7D-0A0B34DF3912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rgbClr val="002060"/>
                </a:solidFill>
              </a:rPr>
              <a:t>Articles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F582D-C0A6-D4FF-6DD2-392308E8226A}"/>
              </a:ext>
            </a:extLst>
          </p:cNvPr>
          <p:cNvSpPr txBox="1"/>
          <p:nvPr/>
        </p:nvSpPr>
        <p:spPr>
          <a:xfrm>
            <a:off x="5530183" y="1608303"/>
            <a:ext cx="6256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written by registrants who successfully applied for a writer 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1DCD6-5FEE-3F5A-6D9B-8403D0DDBF30}"/>
              </a:ext>
            </a:extLst>
          </p:cNvPr>
          <p:cNvSpPr txBox="1"/>
          <p:nvPr/>
        </p:nvSpPr>
        <p:spPr>
          <a:xfrm>
            <a:off x="5491912" y="3429000"/>
            <a:ext cx="62563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can be accessed by anyone for free</a:t>
            </a:r>
            <a:endParaRPr lang="en-US" sz="3200" b="1" dirty="0"/>
          </a:p>
        </p:txBody>
      </p:sp>
      <p:pic>
        <p:nvPicPr>
          <p:cNvPr id="14" name="Graphic 13" descr="Newspaper outline">
            <a:extLst>
              <a:ext uri="{FF2B5EF4-FFF2-40B4-BE49-F238E27FC236}">
                <a16:creationId xmlns:a16="http://schemas.microsoft.com/office/drawing/2014/main" id="{6AA97E82-BB58-235E-40AD-FA3A34FDB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301" y="112847"/>
            <a:ext cx="5136850" cy="51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1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C9C4-2273-0B04-5830-6FCCEE5B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0887-5DFA-8ECC-912F-95B0A68504AD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5A826-3ADE-97CB-F773-BB89474EA25C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rgbClr val="002060"/>
                </a:solidFill>
              </a:rPr>
              <a:t>Researches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3B991-4F0A-5598-701A-63293485F08A}"/>
              </a:ext>
            </a:extLst>
          </p:cNvPr>
          <p:cNvSpPr txBox="1"/>
          <p:nvPr/>
        </p:nvSpPr>
        <p:spPr>
          <a:xfrm>
            <a:off x="5530183" y="1608303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uploaded by schools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BB473-301A-AB99-8C13-EB936ACC17E4}"/>
              </a:ext>
            </a:extLst>
          </p:cNvPr>
          <p:cNvSpPr txBox="1"/>
          <p:nvPr/>
        </p:nvSpPr>
        <p:spPr>
          <a:xfrm>
            <a:off x="5507930" y="2363272"/>
            <a:ext cx="62563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can be accessed by anyone for free</a:t>
            </a:r>
            <a:endParaRPr lang="en-US" sz="3200" b="1" dirty="0"/>
          </a:p>
        </p:txBody>
      </p:sp>
      <p:pic>
        <p:nvPicPr>
          <p:cNvPr id="16" name="Graphic 15" descr="Research outline">
            <a:extLst>
              <a:ext uri="{FF2B5EF4-FFF2-40B4-BE49-F238E27FC236}">
                <a16:creationId xmlns:a16="http://schemas.microsoft.com/office/drawing/2014/main" id="{655E3000-AC07-DBE6-D81D-9EC71B208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95" y="849762"/>
            <a:ext cx="4399935" cy="439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43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BA75-C3EF-E39A-90EC-CC92440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C5C2C6-805A-A977-866E-9F5BB505776B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C7D33-499B-F884-2D3A-6B00E0C22A3F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rgbClr val="002060"/>
                </a:solidFill>
              </a:rPr>
              <a:t>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964D6-AD39-0469-6697-B2B5DA656079}"/>
              </a:ext>
            </a:extLst>
          </p:cNvPr>
          <p:cNvSpPr txBox="1"/>
          <p:nvPr/>
        </p:nvSpPr>
        <p:spPr>
          <a:xfrm>
            <a:off x="5618671" y="1608303"/>
            <a:ext cx="6256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developed by registrants who successfully applied for a developer 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D0B91-D0F9-85E2-0A40-74F632A11CFF}"/>
              </a:ext>
            </a:extLst>
          </p:cNvPr>
          <p:cNvSpPr txBox="1"/>
          <p:nvPr/>
        </p:nvSpPr>
        <p:spPr>
          <a:xfrm>
            <a:off x="5727880" y="3468486"/>
            <a:ext cx="625636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can be accessed by registrants with a personal account for free or if subscribed to a monthly tool subscription</a:t>
            </a:r>
            <a:endParaRPr lang="en-US" sz="3200" b="1" dirty="0"/>
          </a:p>
        </p:txBody>
      </p:sp>
      <p:pic>
        <p:nvPicPr>
          <p:cNvPr id="15" name="Graphic 14" descr="Single gear outline">
            <a:extLst>
              <a:ext uri="{FF2B5EF4-FFF2-40B4-BE49-F238E27FC236}">
                <a16:creationId xmlns:a16="http://schemas.microsoft.com/office/drawing/2014/main" id="{A904F62B-12F2-F6D2-83CD-D3D837E85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877" y="764570"/>
            <a:ext cx="4826785" cy="482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9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4BCC-EBFB-44ED-9281-C1A2DF35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55E824-4474-C9A5-89E3-7CF0183D64A2}"/>
              </a:ext>
            </a:extLst>
          </p:cNvPr>
          <p:cNvCxnSpPr/>
          <p:nvPr/>
        </p:nvCxnSpPr>
        <p:spPr>
          <a:xfrm>
            <a:off x="427703" y="3864077"/>
            <a:ext cx="427703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5AE985F-7208-4533-768B-66AA5BC37930}"/>
              </a:ext>
            </a:extLst>
          </p:cNvPr>
          <p:cNvSpPr/>
          <p:nvPr/>
        </p:nvSpPr>
        <p:spPr>
          <a:xfrm>
            <a:off x="0" y="281222"/>
            <a:ext cx="12192000" cy="7439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E9A1D-6E08-3436-1F10-1C463BDC545C}"/>
              </a:ext>
            </a:extLst>
          </p:cNvPr>
          <p:cNvSpPr txBox="1"/>
          <p:nvPr/>
        </p:nvSpPr>
        <p:spPr>
          <a:xfrm>
            <a:off x="191729" y="381419"/>
            <a:ext cx="8819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>
                <a:solidFill>
                  <a:srgbClr val="002060"/>
                </a:solidFill>
              </a:rPr>
              <a:t>ACCOUNT DESCRIPTIONS/ REQUIREMENTS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8EAA026-6ACF-8041-A5CF-F7DB8440F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472489"/>
              </p:ext>
            </p:extLst>
          </p:nvPr>
        </p:nvGraphicFramePr>
        <p:xfrm>
          <a:off x="685577" y="1166592"/>
          <a:ext cx="10820845" cy="4971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83">
                  <a:extLst>
                    <a:ext uri="{9D8B030D-6E8A-4147-A177-3AD203B41FA5}">
                      <a16:colId xmlns:a16="http://schemas.microsoft.com/office/drawing/2014/main" val="2809126037"/>
                    </a:ext>
                  </a:extLst>
                </a:gridCol>
                <a:gridCol w="941217">
                  <a:extLst>
                    <a:ext uri="{9D8B030D-6E8A-4147-A177-3AD203B41FA5}">
                      <a16:colId xmlns:a16="http://schemas.microsoft.com/office/drawing/2014/main" val="1613021017"/>
                    </a:ext>
                  </a:extLst>
                </a:gridCol>
                <a:gridCol w="6167506">
                  <a:extLst>
                    <a:ext uri="{9D8B030D-6E8A-4147-A177-3AD203B41FA5}">
                      <a16:colId xmlns:a16="http://schemas.microsoft.com/office/drawing/2014/main" val="3302015315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val="3914200269"/>
                    </a:ext>
                  </a:extLst>
                </a:gridCol>
                <a:gridCol w="781665">
                  <a:extLst>
                    <a:ext uri="{9D8B030D-6E8A-4147-A177-3AD203B41FA5}">
                      <a16:colId xmlns:a16="http://schemas.microsoft.com/office/drawing/2014/main" val="132901426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val="3722378165"/>
                    </a:ext>
                  </a:extLst>
                </a:gridCol>
              </a:tblGrid>
              <a:tr h="28159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Account Type</a:t>
                      </a:r>
                      <a:endParaRPr lang="en-PH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Role</a:t>
                      </a:r>
                      <a:endParaRPr lang="en-PH" sz="1200" dirty="0"/>
                    </a:p>
                    <a:p>
                      <a:pPr algn="ctr"/>
                      <a:endParaRPr lang="en-PH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Descriptions</a:t>
                      </a:r>
                      <a:endParaRPr lang="en-PH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Requirements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94215"/>
                  </a:ext>
                </a:extLst>
              </a:tr>
              <a:tr h="419930">
                <a:tc vMerge="1"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License or Certification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Sample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Agreement Form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94061"/>
                  </a:ext>
                </a:extLst>
              </a:tr>
              <a:tr h="419930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Personal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Basic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Have access to registrant-based and/or subscription-based contents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458570"/>
                  </a:ext>
                </a:extLst>
              </a:tr>
              <a:tr h="755873">
                <a:tc v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Teacher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Have access to registrant-based and/or subscription-based contents</a:t>
                      </a:r>
                      <a:endParaRPr lang="en-PH" sz="12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Able to share without losing rights to the file, and sell files through a seller subscription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294063"/>
                  </a:ext>
                </a:extLst>
              </a:tr>
              <a:tr h="587901">
                <a:tc v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Writer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Have access to registrant-based and/or subscription-based contents</a:t>
                      </a:r>
                      <a:endParaRPr lang="en-PH" sz="12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Able to share thoughts on certain educational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554198"/>
                  </a:ext>
                </a:extLst>
              </a:tr>
              <a:tr h="755873">
                <a:tc v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Editor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Have access to registrant-based and/or subscription-based contents</a:t>
                      </a:r>
                      <a:endParaRPr lang="en-PH" sz="12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Able to enhance the articles of writers for more comprehensive thoughts of the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757727"/>
                  </a:ext>
                </a:extLst>
              </a:tr>
              <a:tr h="755873">
                <a:tc v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Developer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Have access to registrant-based and/or subscription-based contents</a:t>
                      </a:r>
                      <a:endParaRPr lang="en-PH" sz="12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Able to enhance the articles of writers for more comprehensive thoughts of the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19920"/>
                  </a:ext>
                </a:extLst>
              </a:tr>
              <a:tr h="478714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School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Basic School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Have access to registrant-based and/or subscription-based contents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16589"/>
                  </a:ext>
                </a:extLst>
              </a:tr>
              <a:tr h="478714">
                <a:tc vMerge="1"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Research Repository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Have access to registrant-based and/or subscription-based contents</a:t>
                      </a:r>
                      <a:endParaRPr lang="en-PH" sz="12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Able upload researches of the students for continuous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243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95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6A22E-C2B6-6E0B-6082-F5236B71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1CB5E9C-7A2D-3789-3571-781148906AB2}"/>
              </a:ext>
            </a:extLst>
          </p:cNvPr>
          <p:cNvSpPr/>
          <p:nvPr/>
        </p:nvSpPr>
        <p:spPr>
          <a:xfrm>
            <a:off x="0" y="281222"/>
            <a:ext cx="12192000" cy="7439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655913-7DCB-E634-C762-04695C6BF690}"/>
              </a:ext>
            </a:extLst>
          </p:cNvPr>
          <p:cNvSpPr txBox="1"/>
          <p:nvPr/>
        </p:nvSpPr>
        <p:spPr>
          <a:xfrm>
            <a:off x="191729" y="381419"/>
            <a:ext cx="8819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>
                <a:solidFill>
                  <a:srgbClr val="002060"/>
                </a:solidFill>
              </a:rPr>
              <a:t>ACCOUNT DESCRIPTIONS/ REQUIREMENTS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C6E3F6-E788-04C2-8C44-B1D7C1199911}"/>
              </a:ext>
            </a:extLst>
          </p:cNvPr>
          <p:cNvSpPr txBox="1"/>
          <p:nvPr/>
        </p:nvSpPr>
        <p:spPr>
          <a:xfrm>
            <a:off x="1202288" y="1418461"/>
            <a:ext cx="978742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Registration form  and </a:t>
            </a:r>
            <a:r>
              <a:rPr lang="en-US" sz="2800" dirty="0"/>
              <a:t>the </a:t>
            </a:r>
            <a:r>
              <a:rPr lang="en-US" sz="2800" b="1" dirty="0"/>
              <a:t>agreement form attachment </a:t>
            </a:r>
            <a:r>
              <a:rPr lang="en-US" sz="2800" dirty="0"/>
              <a:t>are accessible in the </a:t>
            </a:r>
            <a:r>
              <a:rPr lang="en-US" sz="2800" b="1" dirty="0"/>
              <a:t>Account page </a:t>
            </a:r>
            <a:r>
              <a:rPr lang="en-US" sz="2800" dirty="0"/>
              <a:t>through </a:t>
            </a:r>
            <a:r>
              <a:rPr lang="en-US" sz="2800" b="1" dirty="0"/>
              <a:t>‘Other Registrations’ </a:t>
            </a:r>
            <a:r>
              <a:rPr lang="en-US" sz="2800" dirty="0"/>
              <a:t>button.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Submissions are subject for approval </a:t>
            </a:r>
            <a:r>
              <a:rPr lang="en-US" sz="2800" dirty="0"/>
              <a:t>by the </a:t>
            </a:r>
            <a:r>
              <a:rPr lang="en-US" sz="2800" b="1" dirty="0"/>
              <a:t>Site Manager</a:t>
            </a:r>
            <a:r>
              <a:rPr lang="en-US" sz="2800" dirty="0"/>
              <a:t> through the </a:t>
            </a:r>
            <a:r>
              <a:rPr lang="en-US" sz="2800" b="1" dirty="0"/>
              <a:t>Site Manager’s Workspace</a:t>
            </a:r>
            <a:r>
              <a:rPr lang="en-US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Once approved</a:t>
            </a:r>
            <a:r>
              <a:rPr lang="en-US" sz="2800" dirty="0"/>
              <a:t>, the registrant will automatically have access to the </a:t>
            </a:r>
            <a:r>
              <a:rPr lang="en-US" sz="2800" b="1" dirty="0"/>
              <a:t>workspace</a:t>
            </a:r>
            <a:r>
              <a:rPr lang="en-US" sz="2800" dirty="0"/>
              <a:t> of the role applied, which link is provided in the account page through </a:t>
            </a:r>
            <a:r>
              <a:rPr lang="en-US" sz="2800" b="1" dirty="0"/>
              <a:t>‘My Workspace’ </a:t>
            </a:r>
            <a:r>
              <a:rPr lang="en-US" sz="2800" dirty="0"/>
              <a:t>button. If the link to the workspace is not yet available, it means that the registration is </a:t>
            </a:r>
            <a:r>
              <a:rPr lang="en-US" sz="2800" b="1" dirty="0"/>
              <a:t>pending</a:t>
            </a:r>
            <a:r>
              <a:rPr lang="en-US" sz="2800" dirty="0"/>
              <a:t> or </a:t>
            </a:r>
            <a:r>
              <a:rPr lang="en-US" sz="2800" b="1" dirty="0"/>
              <a:t>denied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916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3AFA-6BCF-6431-A656-1A3432320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597B559-F28E-EE70-F636-42B560EF1820}"/>
              </a:ext>
            </a:extLst>
          </p:cNvPr>
          <p:cNvSpPr/>
          <p:nvPr/>
        </p:nvSpPr>
        <p:spPr>
          <a:xfrm>
            <a:off x="0" y="281222"/>
            <a:ext cx="12192000" cy="7439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72FA91-3474-7BFE-BEFE-340048CD284D}"/>
              </a:ext>
            </a:extLst>
          </p:cNvPr>
          <p:cNvSpPr txBox="1"/>
          <p:nvPr/>
        </p:nvSpPr>
        <p:spPr>
          <a:xfrm>
            <a:off x="191729" y="381419"/>
            <a:ext cx="11739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>
                <a:solidFill>
                  <a:srgbClr val="002060"/>
                </a:solidFill>
              </a:rPr>
              <a:t>MONETIZATION STREAMS / POSSIBLE INCOME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FCD29C-6559-7CC9-E5BB-44B205C8F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677621"/>
              </p:ext>
            </p:extLst>
          </p:nvPr>
        </p:nvGraphicFramePr>
        <p:xfrm>
          <a:off x="985681" y="1533831"/>
          <a:ext cx="9869131" cy="3870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195">
                  <a:extLst>
                    <a:ext uri="{9D8B030D-6E8A-4147-A177-3AD203B41FA5}">
                      <a16:colId xmlns:a16="http://schemas.microsoft.com/office/drawing/2014/main" val="2284743395"/>
                    </a:ext>
                  </a:extLst>
                </a:gridCol>
                <a:gridCol w="1206685">
                  <a:extLst>
                    <a:ext uri="{9D8B030D-6E8A-4147-A177-3AD203B41FA5}">
                      <a16:colId xmlns:a16="http://schemas.microsoft.com/office/drawing/2014/main" val="1707894293"/>
                    </a:ext>
                  </a:extLst>
                </a:gridCol>
                <a:gridCol w="1135626">
                  <a:extLst>
                    <a:ext uri="{9D8B030D-6E8A-4147-A177-3AD203B41FA5}">
                      <a16:colId xmlns:a16="http://schemas.microsoft.com/office/drawing/2014/main" val="4270125980"/>
                    </a:ext>
                  </a:extLst>
                </a:gridCol>
                <a:gridCol w="1477997">
                  <a:extLst>
                    <a:ext uri="{9D8B030D-6E8A-4147-A177-3AD203B41FA5}">
                      <a16:colId xmlns:a16="http://schemas.microsoft.com/office/drawing/2014/main" val="3657196205"/>
                    </a:ext>
                  </a:extLst>
                </a:gridCol>
                <a:gridCol w="1409876">
                  <a:extLst>
                    <a:ext uri="{9D8B030D-6E8A-4147-A177-3AD203B41FA5}">
                      <a16:colId xmlns:a16="http://schemas.microsoft.com/office/drawing/2014/main" val="999378233"/>
                    </a:ext>
                  </a:extLst>
                </a:gridCol>
                <a:gridCol w="1409876">
                  <a:extLst>
                    <a:ext uri="{9D8B030D-6E8A-4147-A177-3AD203B41FA5}">
                      <a16:colId xmlns:a16="http://schemas.microsoft.com/office/drawing/2014/main" val="3642451363"/>
                    </a:ext>
                  </a:extLst>
                </a:gridCol>
                <a:gridCol w="1409876">
                  <a:extLst>
                    <a:ext uri="{9D8B030D-6E8A-4147-A177-3AD203B41FA5}">
                      <a16:colId xmlns:a16="http://schemas.microsoft.com/office/drawing/2014/main" val="4117785759"/>
                    </a:ext>
                  </a:extLst>
                </a:gridCol>
              </a:tblGrid>
              <a:tr h="9461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Duration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Amount (</a:t>
                      </a:r>
                      <a:r>
                        <a:rPr lang="en-PH" dirty="0"/>
                        <a:t>₱</a:t>
                      </a:r>
                      <a:r>
                        <a:rPr lang="en-US" dirty="0"/>
                        <a:t>)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Tentative Subscriber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Tentative Income (</a:t>
                      </a:r>
                      <a:r>
                        <a:rPr lang="en-PH" dirty="0"/>
                        <a:t>₱</a:t>
                      </a:r>
                      <a:r>
                        <a:rPr lang="en-US" dirty="0"/>
                        <a:t>) </a:t>
                      </a:r>
                    </a:p>
                    <a:p>
                      <a:pPr algn="ctr"/>
                      <a:r>
                        <a:rPr lang="en-US" dirty="0"/>
                        <a:t>-Month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Tentative Income (</a:t>
                      </a:r>
                      <a:r>
                        <a:rPr lang="en-PH" dirty="0"/>
                        <a:t>₱</a:t>
                      </a:r>
                      <a:r>
                        <a:rPr lang="en-US" dirty="0"/>
                        <a:t>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-Quarter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Tentative Income (</a:t>
                      </a:r>
                      <a:r>
                        <a:rPr lang="en-PH" dirty="0"/>
                        <a:t>₱</a:t>
                      </a:r>
                      <a:r>
                        <a:rPr lang="en-US" dirty="0"/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-Annual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186940"/>
                  </a:ext>
                </a:extLst>
              </a:tr>
              <a:tr h="548184">
                <a:tc>
                  <a:txBody>
                    <a:bodyPr/>
                    <a:lstStyle/>
                    <a:p>
                      <a:r>
                        <a:rPr lang="en-US" dirty="0"/>
                        <a:t>Tool Subscription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Month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1,500 </a:t>
                      </a:r>
                      <a:r>
                        <a:rPr lang="en-US" dirty="0"/>
                        <a:t>teachers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73,500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220,500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882,000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193215"/>
                  </a:ext>
                </a:extLst>
              </a:tr>
              <a:tr h="637342">
                <a:tc>
                  <a:txBody>
                    <a:bodyPr/>
                    <a:lstStyle/>
                    <a:p>
                      <a:r>
                        <a:rPr lang="en-US" dirty="0"/>
                        <a:t>Seller Subscription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Month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1,500 teachers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148,500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445,500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1,782,000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404222"/>
                  </a:ext>
                </a:extLst>
              </a:tr>
              <a:tr h="548184">
                <a:tc>
                  <a:txBody>
                    <a:bodyPr/>
                    <a:lstStyle/>
                    <a:p>
                      <a:r>
                        <a:rPr lang="en-US" dirty="0"/>
                        <a:t>Promotion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Month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2499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 brands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24,990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74,970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299,880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290394"/>
                  </a:ext>
                </a:extLst>
              </a:tr>
              <a:tr h="548184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446784"/>
                  </a:ext>
                </a:extLst>
              </a:tr>
              <a:tr h="548184">
                <a:tc gridSpan="4">
                  <a:txBody>
                    <a:bodyPr/>
                    <a:lstStyle/>
                    <a:p>
                      <a:pPr algn="r"/>
                      <a:r>
                        <a:rPr lang="en-US" dirty="0"/>
                        <a:t>TOTAL&gt;&gt;&gt;</a:t>
                      </a:r>
                      <a:endParaRPr lang="en-PH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246,990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740,970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2,963,880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184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74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505</Words>
  <Application>Microsoft Office PowerPoint</Application>
  <PresentationFormat>Widescreen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14</cp:revision>
  <dcterms:created xsi:type="dcterms:W3CDTF">2025-12-15T03:37:30Z</dcterms:created>
  <dcterms:modified xsi:type="dcterms:W3CDTF">2025-12-15T07:28:29Z</dcterms:modified>
</cp:coreProperties>
</file>